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sldIdLst>
    <p:sldId id="530" r:id="rId5"/>
    <p:sldId id="533" r:id="rId6"/>
    <p:sldId id="531" r:id="rId7"/>
    <p:sldId id="535" r:id="rId8"/>
    <p:sldId id="547" r:id="rId9"/>
    <p:sldId id="536" r:id="rId10"/>
    <p:sldId id="534" r:id="rId11"/>
    <p:sldId id="537" r:id="rId12"/>
    <p:sldId id="54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22EE"/>
    <a:srgbClr val="F01688"/>
    <a:srgbClr val="2F21F3"/>
    <a:srgbClr val="FEB52B"/>
    <a:srgbClr val="F01689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E1BE8E-BB03-465E-8D54-2E92A754E15E}" v="48" dt="2026-03-17T07:08:00.4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063" autoAdjust="0"/>
  </p:normalViewPr>
  <p:slideViewPr>
    <p:cSldViewPr snapToGrid="0">
      <p:cViewPr varScale="1">
        <p:scale>
          <a:sx n="60" d="100"/>
          <a:sy n="60" d="100"/>
        </p:scale>
        <p:origin x="9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niya Pittman" userId="894c6907192f304c" providerId="LiveId" clId="{EF0314F5-4854-4FBB-86DE-A065CBBEC474}"/>
    <pc:docChg chg="custSel modSld sldOrd">
      <pc:chgData name="Jeniya Pittman" userId="894c6907192f304c" providerId="LiveId" clId="{EF0314F5-4854-4FBB-86DE-A065CBBEC474}" dt="2026-03-17T23:52:33.246" v="443" actId="1038"/>
      <pc:docMkLst>
        <pc:docMk/>
      </pc:docMkLst>
      <pc:sldChg chg="modNotesTx">
        <pc:chgData name="Jeniya Pittman" userId="894c6907192f304c" providerId="LiveId" clId="{EF0314F5-4854-4FBB-86DE-A065CBBEC474}" dt="2026-03-17T17:30:22.457" v="268" actId="20577"/>
        <pc:sldMkLst>
          <pc:docMk/>
          <pc:sldMk cId="1723491119" sldId="530"/>
        </pc:sldMkLst>
      </pc:sldChg>
      <pc:sldChg chg="modSp mod modNotesTx">
        <pc:chgData name="Jeniya Pittman" userId="894c6907192f304c" providerId="LiveId" clId="{EF0314F5-4854-4FBB-86DE-A065CBBEC474}" dt="2026-03-17T17:38:11.751" v="391" actId="20577"/>
        <pc:sldMkLst>
          <pc:docMk/>
          <pc:sldMk cId="3548027083" sldId="531"/>
        </pc:sldMkLst>
        <pc:spChg chg="mod">
          <ac:chgData name="Jeniya Pittman" userId="894c6907192f304c" providerId="LiveId" clId="{EF0314F5-4854-4FBB-86DE-A065CBBEC474}" dt="2026-03-17T17:35:06.609" v="390" actId="20577"/>
          <ac:spMkLst>
            <pc:docMk/>
            <pc:sldMk cId="3548027083" sldId="531"/>
            <ac:spMk id="3" creationId="{199158D4-7B61-0A48-E33F-792278D05724}"/>
          </ac:spMkLst>
        </pc:spChg>
      </pc:sldChg>
      <pc:sldChg chg="ord modNotesTx">
        <pc:chgData name="Jeniya Pittman" userId="894c6907192f304c" providerId="LiveId" clId="{EF0314F5-4854-4FBB-86DE-A065CBBEC474}" dt="2026-03-17T17:39:06.318" v="416" actId="20577"/>
        <pc:sldMkLst>
          <pc:docMk/>
          <pc:sldMk cId="3380759881" sldId="533"/>
        </pc:sldMkLst>
      </pc:sldChg>
      <pc:sldChg chg="modNotesTx">
        <pc:chgData name="Jeniya Pittman" userId="894c6907192f304c" providerId="LiveId" clId="{EF0314F5-4854-4FBB-86DE-A065CBBEC474}" dt="2026-03-17T17:34:38.641" v="377" actId="20577"/>
        <pc:sldMkLst>
          <pc:docMk/>
          <pc:sldMk cId="548476299" sldId="534"/>
        </pc:sldMkLst>
      </pc:sldChg>
      <pc:sldChg chg="modNotesTx">
        <pc:chgData name="Jeniya Pittman" userId="894c6907192f304c" providerId="LiveId" clId="{EF0314F5-4854-4FBB-86DE-A065CBBEC474}" dt="2026-03-17T17:39:19.435" v="422" actId="20577"/>
        <pc:sldMkLst>
          <pc:docMk/>
          <pc:sldMk cId="1372651910" sldId="535"/>
        </pc:sldMkLst>
      </pc:sldChg>
      <pc:sldChg chg="addSp delSp modSp mod modNotesTx">
        <pc:chgData name="Jeniya Pittman" userId="894c6907192f304c" providerId="LiveId" clId="{EF0314F5-4854-4FBB-86DE-A065CBBEC474}" dt="2026-03-17T23:52:33.246" v="443" actId="1038"/>
        <pc:sldMkLst>
          <pc:docMk/>
          <pc:sldMk cId="1208724409" sldId="536"/>
        </pc:sldMkLst>
        <pc:spChg chg="mod">
          <ac:chgData name="Jeniya Pittman" userId="894c6907192f304c" providerId="LiveId" clId="{EF0314F5-4854-4FBB-86DE-A065CBBEC474}" dt="2026-03-17T23:52:21.619" v="433" actId="122"/>
          <ac:spMkLst>
            <pc:docMk/>
            <pc:sldMk cId="1208724409" sldId="536"/>
            <ac:spMk id="6" creationId="{CDD972C1-34B0-DC66-AC16-EC2386B52887}"/>
          </ac:spMkLst>
        </pc:spChg>
        <pc:picChg chg="add del mod">
          <ac:chgData name="Jeniya Pittman" userId="894c6907192f304c" providerId="LiveId" clId="{EF0314F5-4854-4FBB-86DE-A065CBBEC474}" dt="2026-03-17T23:52:01.862" v="429" actId="478"/>
          <ac:picMkLst>
            <pc:docMk/>
            <pc:sldMk cId="1208724409" sldId="536"/>
            <ac:picMk id="4" creationId="{19DA4C94-BD11-CE18-A678-0171A7442DB2}"/>
          </ac:picMkLst>
        </pc:picChg>
        <pc:picChg chg="add mod">
          <ac:chgData name="Jeniya Pittman" userId="894c6907192f304c" providerId="LiveId" clId="{EF0314F5-4854-4FBB-86DE-A065CBBEC474}" dt="2026-03-17T23:52:33.246" v="443" actId="1038"/>
          <ac:picMkLst>
            <pc:docMk/>
            <pc:sldMk cId="1208724409" sldId="536"/>
            <ac:picMk id="8" creationId="{8F2F66CE-C60D-60F7-7F83-D7D888A2CBEE}"/>
          </ac:picMkLst>
        </pc:picChg>
      </pc:sldChg>
      <pc:sldChg chg="modNotesTx">
        <pc:chgData name="Jeniya Pittman" userId="894c6907192f304c" providerId="LiveId" clId="{EF0314F5-4854-4FBB-86DE-A065CBBEC474}" dt="2026-03-17T17:34:46.436" v="384" actId="20577"/>
        <pc:sldMkLst>
          <pc:docMk/>
          <pc:sldMk cId="1213210011" sldId="537"/>
        </pc:sldMkLst>
      </pc:sldChg>
      <pc:sldChg chg="modSp mod">
        <pc:chgData name="Jeniya Pittman" userId="894c6907192f304c" providerId="LiveId" clId="{EF0314F5-4854-4FBB-86DE-A065CBBEC474}" dt="2026-03-17T17:07:48.100" v="256" actId="948"/>
        <pc:sldMkLst>
          <pc:docMk/>
          <pc:sldMk cId="1877701230" sldId="544"/>
        </pc:sldMkLst>
        <pc:spChg chg="mod">
          <ac:chgData name="Jeniya Pittman" userId="894c6907192f304c" providerId="LiveId" clId="{EF0314F5-4854-4FBB-86DE-A065CBBEC474}" dt="2026-03-17T17:07:48.100" v="256" actId="948"/>
          <ac:spMkLst>
            <pc:docMk/>
            <pc:sldMk cId="1877701230" sldId="544"/>
            <ac:spMk id="4" creationId="{3E16E20A-B046-3AA7-AC70-DC667BBA0DF7}"/>
          </ac:spMkLst>
        </pc:spChg>
      </pc:sldChg>
      <pc:sldChg chg="modNotesTx">
        <pc:chgData name="Jeniya Pittman" userId="894c6907192f304c" providerId="LiveId" clId="{EF0314F5-4854-4FBB-86DE-A065CBBEC474}" dt="2026-03-17T17:31:37.912" v="310" actId="20577"/>
        <pc:sldMkLst>
          <pc:docMk/>
          <pc:sldMk cId="4158475767" sldId="54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Jeniya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0867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Jeniya and Austin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765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175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Damone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“Many college students struggle to manage their finances, and often don’t realize they’re overspending until it’s too late.”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142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0076A-290B-A3A2-5271-5FAEDD7DB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6FBA4F-1AD6-EC2F-206C-A4529A863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81D2D-DD4A-3AB1-E797-10E7CA0B8A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Elijah</a:t>
            </a:r>
          </a:p>
          <a:p>
            <a:r>
              <a:rPr lang="en-US" dirty="0"/>
              <a:t>“Our solution is an AI-powered budget assistant that tracks spending, analyzes patterns, and alerts users when they are at risk of overspending.”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253A5-0658-C738-64BE-574C93E793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68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Jeniya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“Our system consists of a frontend that displays results, a backend that processes the data, and an AI component that analyzes spending and generates predictions.”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549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Wolf</a:t>
            </a:r>
          </a:p>
          <a:p>
            <a:r>
              <a:rPr lang="en-US" dirty="0"/>
              <a:t>“In the future, we plan to expand this into a mobile app, integrate real financial data, enhance the AI model, and include smart alerts with personalized budgeting recommendations.”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4982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Ezekiel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30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1952" y="2313924"/>
            <a:ext cx="8385048" cy="1481328"/>
          </a:xfrm>
        </p:spPr>
        <p:txBody>
          <a:bodyPr/>
          <a:lstStyle/>
          <a:p>
            <a:r>
              <a:rPr lang="en-US" dirty="0"/>
              <a:t>AI Budget Assistant for Students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96894" y="6141313"/>
            <a:ext cx="2365744" cy="647124"/>
          </a:xfrm>
        </p:spPr>
        <p:txBody>
          <a:bodyPr/>
          <a:lstStyle/>
          <a:p>
            <a:r>
              <a:rPr lang="en-US" sz="3200" b="1" dirty="0"/>
              <a:t>Team 4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39F99B3-24C6-0CF7-5850-59D6D3A86552}"/>
              </a:ext>
            </a:extLst>
          </p:cNvPr>
          <p:cNvSpPr txBox="1">
            <a:spLocks/>
          </p:cNvSpPr>
          <p:nvPr/>
        </p:nvSpPr>
        <p:spPr>
          <a:xfrm>
            <a:off x="4886141" y="4091154"/>
            <a:ext cx="2416670" cy="4606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3490" y="1445177"/>
            <a:ext cx="8965019" cy="1983823"/>
          </a:xfrm>
        </p:spPr>
        <p:txBody>
          <a:bodyPr/>
          <a:lstStyle/>
          <a:p>
            <a:r>
              <a:rPr lang="en-US" sz="3600" dirty="0"/>
              <a:t>Money goes fast in college… and somehow we’re always surprised when it does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2A8B0-333F-633E-3FA7-D38DBFB10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3490" y="3599971"/>
            <a:ext cx="8965018" cy="1133856"/>
          </a:xfrm>
        </p:spPr>
        <p:txBody>
          <a:bodyPr/>
          <a:lstStyle/>
          <a:p>
            <a:r>
              <a:rPr lang="en-US" sz="2400" b="1" dirty="0"/>
              <a:t>That’s exactly why we built an app that helps you see it coming!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424" y="432952"/>
            <a:ext cx="6813755" cy="875257"/>
          </a:xfrm>
        </p:spPr>
        <p:txBody>
          <a:bodyPr>
            <a:normAutofit/>
          </a:bodyPr>
          <a:lstStyle/>
          <a:p>
            <a:pPr algn="ctr"/>
            <a:r>
              <a:rPr lang="en-US" sz="4400" dirty="0">
                <a:ln w="28575">
                  <a:noFill/>
                  <a:prstDash val="solid"/>
                </a:ln>
                <a:latin typeface="Tw Cen MT" panose="020B0602020104020603" pitchFamily="34" charset="77"/>
              </a:rPr>
              <a:t>Team introduction</a:t>
            </a:r>
            <a:endParaRPr lang="en-US" sz="4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424" y="1244116"/>
            <a:ext cx="6422136" cy="518857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1800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Project Manager</a:t>
            </a:r>
          </a:p>
          <a:p>
            <a:pPr marL="0" indent="0" algn="l">
              <a:spcBef>
                <a:spcPts val="0"/>
              </a:spcBef>
              <a:buClr>
                <a:schemeClr val="accent6"/>
              </a:buClr>
              <a:buNone/>
            </a:pPr>
            <a:r>
              <a:rPr lang="en-US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Jeniya Pittman – Information Technology, Senior </a:t>
            </a:r>
            <a:endParaRPr lang="en-US" sz="18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1800" b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Frontend Developer</a:t>
            </a:r>
          </a:p>
          <a:p>
            <a:pPr marL="0" indent="0" algn="l">
              <a:spcBef>
                <a:spcPts val="0"/>
              </a:spcBef>
              <a:buClr>
                <a:schemeClr val="accent6"/>
              </a:buClr>
              <a:buNone/>
            </a:pPr>
            <a:r>
              <a:rPr lang="en-US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Austin Pittman – Information Technology, Junior</a:t>
            </a:r>
            <a:endParaRPr lang="en-US" sz="18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1800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Backend Developer</a:t>
            </a:r>
          </a:p>
          <a:p>
            <a:pPr marL="0" indent="0" algn="l">
              <a:spcBef>
                <a:spcPts val="0"/>
              </a:spcBef>
              <a:buClr>
                <a:schemeClr val="accent6"/>
              </a:buClr>
              <a:buNone/>
            </a:pPr>
            <a:r>
              <a:rPr lang="en-US" sz="18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Elijah Gordon – </a:t>
            </a:r>
            <a:r>
              <a:rPr lang="en-US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Computer Science</a:t>
            </a:r>
            <a:r>
              <a:rPr lang="en-US" sz="18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, Senior</a:t>
            </a:r>
          </a:p>
          <a:p>
            <a:pPr marL="342900" indent="-342900" algn="l"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1800" b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AI/Data Engineer</a:t>
            </a:r>
          </a:p>
          <a:p>
            <a:pPr marL="0" indent="0" algn="l">
              <a:spcBef>
                <a:spcPts val="0"/>
              </a:spcBef>
              <a:buClr>
                <a:schemeClr val="accent6"/>
              </a:buClr>
              <a:buNone/>
            </a:pPr>
            <a:r>
              <a:rPr lang="en-US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Malachi Wolf – Information Technology, Senior</a:t>
            </a:r>
          </a:p>
          <a:p>
            <a:pPr>
              <a:spcBef>
                <a:spcPts val="0"/>
              </a:spcBef>
            </a:pPr>
            <a:r>
              <a:rPr lang="en-US" sz="1800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Data Engineer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Ezekiel </a:t>
            </a:r>
            <a:r>
              <a:rPr lang="en-US" sz="18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Sendar</a:t>
            </a:r>
            <a:r>
              <a:rPr lang="en-US" sz="18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– Computer Science, Sophomore</a:t>
            </a:r>
          </a:p>
          <a:p>
            <a:pPr marL="342900" indent="-342900" algn="l"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1800" b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Testing &amp; Data Support</a:t>
            </a:r>
          </a:p>
          <a:p>
            <a:pPr marL="0" indent="0" algn="l">
              <a:spcBef>
                <a:spcPts val="0"/>
              </a:spcBef>
              <a:buClr>
                <a:schemeClr val="accent6"/>
              </a:buClr>
              <a:buNone/>
            </a:pPr>
            <a:r>
              <a:rPr lang="en-US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Damone Washington – Computer Science, Junior</a:t>
            </a:r>
            <a:endParaRPr lang="en-US" sz="18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FE8-2F9C-9C12-4EB3-9742EA91D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problem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5B556FD-5DE5-853C-8D2F-82488AD9F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struggle managing money</a:t>
            </a:r>
          </a:p>
          <a:p>
            <a:r>
              <a:rPr lang="en-US" dirty="0"/>
              <a:t>No simple tools built for college life</a:t>
            </a:r>
          </a:p>
          <a:p>
            <a:r>
              <a:rPr lang="en-US" dirty="0"/>
              <a:t>Overspending goes unnoticed</a:t>
            </a:r>
          </a:p>
        </p:txBody>
      </p:sp>
      <p:pic>
        <p:nvPicPr>
          <p:cNvPr id="12" name="Graphic 11" descr="Question Mark with solid fill">
            <a:extLst>
              <a:ext uri="{FF2B5EF4-FFF2-40B4-BE49-F238E27FC236}">
                <a16:creationId xmlns:a16="http://schemas.microsoft.com/office/drawing/2014/main" id="{46D24836-A258-D512-FA8C-D22BA13199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01662">
            <a:off x="7066509" y="880951"/>
            <a:ext cx="1409017" cy="1409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AD0B5-3EBB-4411-C8DC-9D6C98E8B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D21E9-F5C3-60CA-4258-6F258EDAA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solution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50E0C3-4C4F-E610-841D-0EC121D400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54238E8-F9E2-A30B-EF1D-937B3E183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/>
            <a:r>
              <a:rPr lang="en-US" dirty="0"/>
              <a:t>AI Budget Assistant</a:t>
            </a:r>
          </a:p>
          <a:p>
            <a:pPr marL="457200" indent="-457200"/>
            <a:r>
              <a:rPr lang="en-US" dirty="0"/>
              <a:t>Tracks spending</a:t>
            </a:r>
          </a:p>
          <a:p>
            <a:pPr marL="457200" indent="-457200"/>
            <a:r>
              <a:rPr lang="en-US" dirty="0"/>
              <a:t>Predicts overspending</a:t>
            </a:r>
          </a:p>
          <a:p>
            <a:pPr marL="457200" indent="-457200"/>
            <a:r>
              <a:rPr lang="en-US" dirty="0"/>
              <a:t>Gives alerts</a:t>
            </a:r>
          </a:p>
        </p:txBody>
      </p:sp>
      <p:pic>
        <p:nvPicPr>
          <p:cNvPr id="8" name="Graphic 7" descr="Magnifying glass with solid fill">
            <a:extLst>
              <a:ext uri="{FF2B5EF4-FFF2-40B4-BE49-F238E27FC236}">
                <a16:creationId xmlns:a16="http://schemas.microsoft.com/office/drawing/2014/main" id="{B17A8E18-A7AB-02D2-3EE6-54DFE12909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71203">
            <a:off x="4479480" y="1143303"/>
            <a:ext cx="1050291" cy="105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475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0DEE9-2DBD-C997-C208-027230B5A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804" y="832104"/>
            <a:ext cx="9994392" cy="1069848"/>
          </a:xfrm>
        </p:spPr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How it works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CF1F9-4847-1440-0352-6D1284A48D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DD972C1-34B0-DC66-AC16-EC2386B52887}"/>
              </a:ext>
            </a:extLst>
          </p:cNvPr>
          <p:cNvSpPr txBox="1">
            <a:spLocks/>
          </p:cNvSpPr>
          <p:nvPr/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347472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dirty="0"/>
              <a:t>Frontend -&gt; displays results </a:t>
            </a:r>
          </a:p>
          <a:p>
            <a:pPr marL="457200" indent="-457200"/>
            <a:r>
              <a:rPr lang="en-US" dirty="0"/>
              <a:t>Backend -&gt; processes data</a:t>
            </a:r>
          </a:p>
          <a:p>
            <a:pPr marL="457200" indent="-457200"/>
            <a:r>
              <a:rPr lang="en-US" dirty="0"/>
              <a:t>AI -&gt; generates predictions</a:t>
            </a:r>
          </a:p>
          <a:p>
            <a:pPr marL="457200" indent="-457200"/>
            <a:endParaRPr lang="en-US" dirty="0"/>
          </a:p>
          <a:p>
            <a:pPr marL="0" indent="0" algn="ctr">
              <a:buNone/>
            </a:pPr>
            <a:r>
              <a:rPr lang="en-US" b="1" dirty="0"/>
              <a:t>User -&gt; Data -&gt; Prediction -&gt; Alert</a:t>
            </a:r>
          </a:p>
        </p:txBody>
      </p:sp>
      <p:pic>
        <p:nvPicPr>
          <p:cNvPr id="16" name="Graphic 15" descr="Arrow circle outline">
            <a:extLst>
              <a:ext uri="{FF2B5EF4-FFF2-40B4-BE49-F238E27FC236}">
                <a16:creationId xmlns:a16="http://schemas.microsoft.com/office/drawing/2014/main" id="{0FEE14E9-62C2-9216-6361-3F792BF6C1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1762" y="873359"/>
            <a:ext cx="1389037" cy="13890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2F66CE-C60D-60F7-7F83-D7D888A2CB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0462" y="4732059"/>
            <a:ext cx="5508559" cy="83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28284" y="1534468"/>
            <a:ext cx="8332381" cy="1069848"/>
          </a:xfrm>
        </p:spPr>
        <p:txBody>
          <a:bodyPr/>
          <a:lstStyle/>
          <a:p>
            <a:r>
              <a:rPr lang="en-US" dirty="0"/>
              <a:t>Future enhancements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4610" y="3674164"/>
            <a:ext cx="3119690" cy="914400"/>
          </a:xfrm>
        </p:spPr>
        <p:txBody>
          <a:bodyPr/>
          <a:lstStyle/>
          <a:p>
            <a:pPr marL="342900" indent="-342900" algn="l">
              <a:buFont typeface="Courier New" panose="02070309020205020404" pitchFamily="49" charset="0"/>
              <a:buChar char="o"/>
            </a:pPr>
            <a:r>
              <a:rPr lang="en-US" sz="2800" dirty="0"/>
              <a:t>Mobile App</a:t>
            </a:r>
          </a:p>
          <a:p>
            <a:pPr marL="342900" indent="-342900" algn="l">
              <a:buFont typeface="Courier New" panose="02070309020205020404" pitchFamily="49" charset="0"/>
              <a:buChar char="o"/>
            </a:pPr>
            <a:r>
              <a:rPr lang="en-US" sz="2800" dirty="0"/>
              <a:t>Bank Integration</a:t>
            </a:r>
          </a:p>
        </p:txBody>
      </p:sp>
      <p:pic>
        <p:nvPicPr>
          <p:cNvPr id="7" name="Graphic 6" descr="Daily calendar with solid fill">
            <a:extLst>
              <a:ext uri="{FF2B5EF4-FFF2-40B4-BE49-F238E27FC236}">
                <a16:creationId xmlns:a16="http://schemas.microsoft.com/office/drawing/2014/main" id="{6BE8493B-4EB0-FA14-F0F3-D948776EE6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7275" y="2604316"/>
            <a:ext cx="914400" cy="914400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D29E4F11-7B1A-E373-39FF-43CE4A90A062}"/>
              </a:ext>
            </a:extLst>
          </p:cNvPr>
          <p:cNvSpPr txBox="1">
            <a:spLocks/>
          </p:cNvSpPr>
          <p:nvPr/>
        </p:nvSpPr>
        <p:spPr>
          <a:xfrm>
            <a:off x="4401886" y="3674164"/>
            <a:ext cx="7115598" cy="914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800" b="1" dirty="0"/>
              <a:t>Smart notifications &amp; reminders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800" dirty="0"/>
              <a:t>Personalized budgeting recommendations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4C44EC9-F730-00B6-E479-530EC276D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497321" y="2736484"/>
            <a:ext cx="1512407" cy="938717"/>
            <a:chOff x="4779792" y="2384561"/>
            <a:chExt cx="3365480" cy="2088878"/>
          </a:xfrm>
          <a:solidFill>
            <a:schemeClr val="accent6">
              <a:alpha val="50231"/>
            </a:schemeClr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8B6D2F8E-4F98-B89F-E4FB-DD9F900821E1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9EBD7AD-ED91-CC5F-0110-3EE43A60F946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6B0BED4-B4D2-A8C2-9E8E-FA7D1819E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199707" y="3205843"/>
            <a:ext cx="1512408" cy="938718"/>
            <a:chOff x="4779792" y="2384561"/>
            <a:chExt cx="3365480" cy="2088878"/>
          </a:xfrm>
          <a:solidFill>
            <a:schemeClr val="accent1">
              <a:alpha val="48174"/>
            </a:schemeClr>
          </a:solidFill>
        </p:grpSpPr>
        <p:sp>
          <p:nvSpPr>
            <p:cNvPr id="8" name="Freeform 1">
              <a:extLst>
                <a:ext uri="{FF2B5EF4-FFF2-40B4-BE49-F238E27FC236}">
                  <a16:creationId xmlns:a16="http://schemas.microsoft.com/office/drawing/2014/main" id="{B542C6FD-B908-03BB-DE9D-1E76EE849265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21">
              <a:extLst>
                <a:ext uri="{FF2B5EF4-FFF2-40B4-BE49-F238E27FC236}">
                  <a16:creationId xmlns:a16="http://schemas.microsoft.com/office/drawing/2014/main" id="{594F7F18-2B8D-7493-904B-1BD252DFC677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4F090D-C862-CF85-1001-A82E54365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dirty="0"/>
              <a:t>A budget tells your money where to go instead of wondering where it all went.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E82C04-6445-9E02-B0E8-8D809278C3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400" b="1" dirty="0"/>
              <a:t>-Dave Ramsey</a:t>
            </a:r>
          </a:p>
        </p:txBody>
      </p:sp>
    </p:spTree>
    <p:extLst>
      <p:ext uri="{BB962C8B-B14F-4D97-AF65-F5344CB8AC3E}">
        <p14:creationId xmlns:p14="http://schemas.microsoft.com/office/powerpoint/2010/main" val="1213210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302" y="1941294"/>
            <a:ext cx="4177957" cy="1069848"/>
          </a:xfrm>
        </p:spPr>
        <p:txBody>
          <a:bodyPr/>
          <a:lstStyle/>
          <a:p>
            <a:r>
              <a:rPr lang="en-US" sz="48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THANK YOU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E16E20A-B046-3AA7-AC70-DC667BBA0DF7}"/>
              </a:ext>
            </a:extLst>
          </p:cNvPr>
          <p:cNvSpPr txBox="1">
            <a:spLocks/>
          </p:cNvSpPr>
          <p:nvPr/>
        </p:nvSpPr>
        <p:spPr>
          <a:xfrm>
            <a:off x="5930058" y="3429000"/>
            <a:ext cx="3334447" cy="27605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b="1" u="sng" dirty="0"/>
              <a:t>TEAM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b="1" dirty="0"/>
              <a:t>Jeniya Pittman</a:t>
            </a:r>
            <a:br>
              <a:rPr lang="en-US" b="1" dirty="0"/>
            </a:br>
            <a:r>
              <a:rPr lang="en-US" b="1" dirty="0"/>
              <a:t>Austin Pittman</a:t>
            </a:r>
            <a:br>
              <a:rPr lang="en-US" b="1" dirty="0"/>
            </a:br>
            <a:r>
              <a:rPr lang="en-US" b="1" dirty="0"/>
              <a:t>Elijah Gordon</a:t>
            </a:r>
            <a:br>
              <a:rPr lang="en-US" b="1" dirty="0"/>
            </a:br>
            <a:r>
              <a:rPr lang="en-US" b="1" dirty="0"/>
              <a:t>Malachi Wolf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b="1" dirty="0"/>
              <a:t>Ezekiel </a:t>
            </a:r>
            <a:r>
              <a:rPr lang="en-US" b="1" dirty="0" err="1"/>
              <a:t>Sendar</a:t>
            </a:r>
            <a:br>
              <a:rPr lang="en-US" b="1" dirty="0"/>
            </a:br>
            <a:r>
              <a:rPr lang="en-US" b="1" dirty="0"/>
              <a:t>Damone Washington</a:t>
            </a:r>
          </a:p>
        </p:txBody>
      </p:sp>
      <p:pic>
        <p:nvPicPr>
          <p:cNvPr id="8" name="Graphic 7" descr="Clapping hands outline">
            <a:extLst>
              <a:ext uri="{FF2B5EF4-FFF2-40B4-BE49-F238E27FC236}">
                <a16:creationId xmlns:a16="http://schemas.microsoft.com/office/drawing/2014/main" id="{1D3920F3-247A-F69C-17B4-DC7D38047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64505" y="159988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B8ECF1-2A9D-464C-AFE8-2B3295D0BF97}">
  <ds:schemaRefs>
    <ds:schemaRef ds:uri="http://schemas.microsoft.com/office/2006/documentManagement/types"/>
    <ds:schemaRef ds:uri="http://purl.org/dc/dcmitype/"/>
    <ds:schemaRef ds:uri="230e9df3-be65-4c73-a93b-d1236ebd677e"/>
    <ds:schemaRef ds:uri="http://schemas.microsoft.com/office/2006/metadata/properties"/>
    <ds:schemaRef ds:uri="http://www.w3.org/XML/1998/namespace"/>
    <ds:schemaRef ds:uri="http://schemas.microsoft.com/sharepoint/v3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16c05727-aa75-4e4a-9b5f-8a80a1165891"/>
    <ds:schemaRef ds:uri="71af3243-3dd4-4a8d-8c0d-dd76da1f02a5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136</TotalTime>
  <Words>328</Words>
  <Application>Microsoft Office PowerPoint</Application>
  <PresentationFormat>Widescreen</PresentationFormat>
  <Paragraphs>68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Courier New</vt:lpstr>
      <vt:lpstr>Segoe UI Light</vt:lpstr>
      <vt:lpstr>Tw Cen MT</vt:lpstr>
      <vt:lpstr>Office Theme</vt:lpstr>
      <vt:lpstr>AI Budget Assistant for Students</vt:lpstr>
      <vt:lpstr>Money goes fast in college… and somehow we’re always surprised when it does</vt:lpstr>
      <vt:lpstr>Team introduction</vt:lpstr>
      <vt:lpstr>problem</vt:lpstr>
      <vt:lpstr>solution</vt:lpstr>
      <vt:lpstr>How it works</vt:lpstr>
      <vt:lpstr>Future enhancements</vt:lpstr>
      <vt:lpstr>A budget tells your money where to go instead of wondering where it all went.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Jeniya Pittman</dc:creator>
  <cp:lastModifiedBy>Jeniya Pittman</cp:lastModifiedBy>
  <cp:revision>2</cp:revision>
  <dcterms:created xsi:type="dcterms:W3CDTF">2026-03-17T06:04:45Z</dcterms:created>
  <dcterms:modified xsi:type="dcterms:W3CDTF">2026-03-17T23:52:40Z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